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z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z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Duntong Original Cylindrical Tongue Drum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Musical instrument documentation capstone</a:t>
            </a:r>
          </a:p>
          <a:p>
            <a:pPr lvl="0"/>
            <a:r>
              <a:rPr/>
              <a:t>Build packet: duntong</a:t>
            </a:r>
          </a:p>
          <a:p>
            <a:pPr lvl="0"/>
            <a:r>
              <a:rPr/>
              <a:t>Generated: 2026-05-05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duntong is Tony Koop’s original cylindrical tongue drum concept. It combines a dundun-like round body and optional drumhead/ported ends with wooden tongue drum voices cut directly into the shell wall.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Read design.md before committing to dimensions or sourcing decisions.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Tongues</a:t>
            </a:r>
          </a:p>
          <a:p>
            <a:pPr lvl="0" indent="0">
              <a:buNone/>
            </a:pPr>
            <a:r>
              <a:rPr>
                <a:latin typeface="Courier"/>
              </a:rPr>
              <a:t>f = K * t / L^2
L = sqrt(K * t / f)</a:t>
            </a:r>
          </a:p>
          <a:p>
            <a:pPr lvl="0" indent="0">
              <a:buNone/>
            </a:pPr>
            <a:r>
              <a:rPr>
                <a:latin typeface="Courier"/>
              </a:rPr>
              <a:t>OD = 12.000 in
length = 16.000 in
wall/tongue thickness = 0.500 in
tongue width = 1.500 in
slit width = 0.125 in
K = 24438
root MIDI = 60 (C4)</a:t>
            </a:r>
          </a:p>
          <a:p>
            <a:pPr lvl="0" indent="0">
              <a:buNone/>
            </a:pPr>
            <a:r>
              <a:rPr>
                <a:latin typeface="Courier"/>
              </a:rPr>
              <a:t>L = sqrt(24438 * 0.5 / 261.63) = 6.834 in</a:t>
            </a:r>
          </a:p>
          <a:p>
            <a:pPr lvl="0" indent="0">
              <a:buNone/>
            </a:pPr>
            <a:r>
              <a:rPr>
                <a:latin typeface="Courier"/>
              </a:rPr>
              <a:t>slit area = 8 * (0.125 * 1.5 + 2 * 0.125 * 3.0) = 7.5 in^2
internal volume = pi * (11 / 2)^2 * 16 = 1520.5 in^3
effective neck length = 0.5 in
f_H = 13552 / (2*pi) * sqrt(7.5 / (1520.5 * 0.5)) = about 214 Hz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Governing equations extracted verbatim from design.md. Apply empirical corrections (NAF K2, scale offsets) only where the model permits — see references/acoustic-models.md.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Hardware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V1 build is a stave-cylinder shell with CNC-cut tongue slits. The CNC plan is pre-CAM only; feeds, speeds, hold-down, and simulation must be set at the actual machine.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Fixture / 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Rip staves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saw, miter sled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 edge datum, 15 deg miter for 12 staves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Cut extra staves for tuning and destructive tests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Thickness staves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Planer / drum sander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Outside face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Tongue pitch depends directly on final wall thickness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Glue cylinder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 clamps or hose clamps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Shell axis datum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Glue in two half-shells, then join halves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shell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Shell axis between centers/chuck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wall is tuning-critical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 cap or drumhead prep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Lathe, band saw, drill press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 plane datum B/C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Preserve sealed, ported, and drumhead variants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Tongue layout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 wrap template or SolidWorks unwrap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Shell axis A, equator plane D, index zero 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ring around equator for V1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Tongue cuts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CNC router, 1/8 in upcut spiral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V-block cradle, rotary indexing, shell axis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 tongues about 5 percent long/flat for tuning trim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Files, Dremel, tuner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Tongue root and tip marks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Shorten tip to raise pitch; thin near base to lower pitch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Identifies which shop pipeline(s) this instrument lives in: Bambu+kiln slip-cast, 40W laser flat-pack, CNC+lathe, segmented turning, drum-skin work, or hybrid combinations.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Use This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design.md for intent and assumptions.</a:t>
            </a:r>
          </a:p>
          <a:p>
            <a:pPr lvl="0"/>
            <a:r>
              <a:rPr/>
              <a:t>Use bom.csv, sourcing.csv, and cut-list.csv before buying or cutting.</a:t>
            </a:r>
          </a:p>
          <a:p>
            <a:pPr lvl="0"/>
            <a:r>
              <a:rPr/>
              <a:t>Use drawing-brief.md and CAD/CNC folders before machining.</a:t>
            </a:r>
          </a:p>
          <a:p>
            <a:pPr lvl="0"/>
            <a:r>
              <a:rPr/>
              <a:t>Print the packet for shopping, shop work, and validation.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design.md: Project intent, catalog metadata, assumptions, and validation plan.</a:t>
            </a:r>
          </a:p>
          <a:p>
            <a:pPr lvl="0"/>
            <a:r>
              <a:rPr/>
              <a:t>bom.csv: Starter bill of materials with part categories, quantities, drawing refs, and notes.</a:t>
            </a:r>
          </a:p>
          <a:p>
            <a:pPr lvl="0"/>
            <a:r>
              <a:rPr/>
              <a:t>sourcing.csv: Supplier/search tracker with specs, price/date fields, lead time, substitutes, and risks.</a:t>
            </a:r>
          </a:p>
          <a:p>
            <a:pPr lvl="0"/>
            <a:r>
              <a:rPr/>
              <a:t>cut-list.csv: Rough/final stock sizes, material, grain/orientation, operations, yield, and offcuts.</a:t>
            </a:r>
          </a:p>
          <a:p>
            <a:pPr lvl="0"/>
            <a:r>
              <a:rPr/>
              <a:t>drawing-brief.md: Manufacturing drawing and technical product sketch brief.</a:t>
            </a:r>
          </a:p>
          <a:p>
            <a:pPr lvl="0"/>
            <a:r>
              <a:rPr/>
              <a:t>assembly-manual.md: Shop-facing sequence, tools, fixtures, safety, tuning, finishing, and maintenance notes.</a:t>
            </a:r>
          </a:p>
          <a:p>
            <a:pPr lvl="0"/>
            <a:r>
              <a:rPr/>
              <a:t>validation.csv: Target/measured values, tolerance, environment, result, and tuning/build action log.</a:t>
            </a:r>
          </a:p>
          <a:p>
            <a:pPr lvl="0"/>
            <a:r>
              <a:rPr/>
              <a:t>supplier-rfq.md: Supplier email/request-for-quote starter.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Family Spec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target_hz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target_note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predicted_length_in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predicted_width_in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predicted_height_in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predicted_volume_cuin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wood_species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k_constant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k2_correction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outer_diameter_in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inner_diameter_in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wall_thickness_in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tongue_count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slit_width_in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construction_method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DNT-HANDHELD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 minor pentatonic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194.83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Padauk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24438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split-blank or stave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Handheld proof of concept; workbook root MIDI 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DNT-MEDIUM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261.63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 minor pentatonic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1520.53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Padauk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24438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stave cylinder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 build target; medium floor/table instrument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Sizes scale via the master scale factor; tuning targets are first-order Helmholtz/cantilever predictions to be empirically corrected per prototype.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 and assumptions</a:t>
            </a:r>
          </a:p>
          <a:p>
            <a:pPr lvl="0"/>
            <a:r>
              <a:rPr/>
              <a:t>Source materials and hardware</a:t>
            </a:r>
          </a:p>
          <a:p>
            <a:pPr lvl="0"/>
            <a:r>
              <a:rPr/>
              <a:t>Prepare stock, fixtures, and CNC/laser/lathe setup</a:t>
            </a:r>
          </a:p>
          <a:p>
            <a:pPr lvl="0"/>
            <a:r>
              <a:rPr/>
              <a:t>Assemble, tune, finish, and validate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Sourcing And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BOM gives part categories and drawing references.</a:t>
            </a:r>
          </a:p>
          <a:p>
            <a:pPr lvl="0"/>
            <a:r>
              <a:rPr/>
              <a:t>Sourcing tracks search terms, supplier candidates, price/date, lead time, substitutions.</a:t>
            </a:r>
          </a:p>
          <a:p>
            <a:pPr lvl="0"/>
            <a:r>
              <a:rPr/>
              <a:t>Visual BOM brief turns the parts list into a presentation-ready image board.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Shop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Cut list for lumber/sheet/blank planning.</a:t>
            </a:r>
          </a:p>
          <a:p>
            <a:pPr lvl="0"/>
            <a:r>
              <a:rPr/>
              <a:t>Assembly manual for away-from-keyboard work.</a:t>
            </a:r>
          </a:p>
          <a:p>
            <a:pPr lvl="0"/>
            <a:r>
              <a:rPr/>
              <a:t>Validation sheet for measured dimensions, tuning, pass/fail checks.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Drawings, CAD, CNC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drawing-brief.md defines required views, dimensions, datums, sketch intent.</a:t>
            </a:r>
          </a:p>
          <a:p>
            <a:pPr lvl="0"/>
            <a:r>
              <a:rPr/>
              <a:t>cad/ holds models and design tables.</a:t>
            </a:r>
          </a:p>
          <a:p>
            <a:pPr lvl="0"/>
            <a:r>
              <a:rPr/>
              <a:t>cnc/ holds CAM, toolpaths, setup sheets, dry-run notes.</a:t>
            </a:r>
          </a:p>
          <a:p>
            <a:pPr lvl="0"/>
            <a:r>
              <a:rPr/>
              <a:t>drawings/ holds PDFs, SVGs, DXFs, drawing exports.</a:t>
            </a:r>
          </a:p>
        </p:txBody>
      </p:sp>
      <p:pic>
        <p:nvPicPr>
          <p:cNvPr descr="drawings/DNT-HANDHELD-body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drawing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drawing drawing drawing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Images And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hero render/photo, visual BOM, shop screenshots, drawing previews, validation photos in images/.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A4 = 440 Hz reference check.</a:t>
            </a:r>
          </a:p>
          <a:p>
            <a:pPr lvl="0"/>
            <a:r>
              <a:rPr/>
              <a:t>Tuning targets logged in validation.csv.</a:t>
            </a:r>
          </a:p>
          <a:p>
            <a:pPr lvl="0"/>
            <a:r>
              <a:rPr/>
              <a:t>Critical dimensions verified against design sheet and CAD.</a:t>
            </a:r>
          </a:p>
          <a:p>
            <a:pPr lvl="0"/>
            <a:r>
              <a:rPr/>
              <a:t>Photos and revision notes after each major step.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Risks /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TBDs in design sheet and BOM.</a:t>
            </a:r>
          </a:p>
          <a:p>
            <a:pPr lvl="0"/>
            <a:r>
              <a:rPr/>
              <a:t>Supplier price/availability not yet verified.</a:t>
            </a:r>
          </a:p>
          <a:p>
            <a:pPr lvl="0"/>
            <a:r>
              <a:rPr/>
              <a:t>Generated images marked as concept placeholders.</a:t>
            </a:r>
          </a:p>
          <a:p>
            <a:pPr lvl="0"/>
            <a:r>
              <a:rPr/>
              <a:t>Empirical corrections await measured prototype data.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 TBDs with measured/source-backed values.</a:t>
            </a:r>
          </a:p>
          <a:p>
            <a:pPr lvl="0"/>
            <a:r>
              <a:rPr/>
              <a:t>Verify live supplier price and availability before buying.</a:t>
            </a:r>
          </a:p>
          <a:p>
            <a:pPr lvl="0"/>
            <a:r>
              <a:rPr/>
              <a:t>Export final drawings and visual BOM images.</a:t>
            </a:r>
          </a:p>
          <a:p>
            <a:pPr lvl="0"/>
            <a:r>
              <a:rPr/>
              <a:t>Regenerate this deck and print packet after final edits.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2026-05-06T03:09:45Z</dcterms:created>
  <dcterms:modified xsi:type="dcterms:W3CDTF">2026-05-06T03:09:45Z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